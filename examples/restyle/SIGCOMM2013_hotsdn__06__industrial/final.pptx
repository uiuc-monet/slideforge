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8288000" cy="1371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op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942975" y="1781175"/>
            <a:ext cx="102203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520" b="0" i="0">
                <a:solidFill>
                  <a:srgbClr val="FFFFFF"/>
                </a:solidFill>
              </a:rPr>
              <a:t>Computer Science and Engineering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5410200" y="8058150"/>
            <a:ext cx="7915275" cy="43719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Danny Y. Huang</a:t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>Kenneth Yocum</a:t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>Alex C. Snoeren</a:t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/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>University of California, San Diego</a:t>
            </a:r>
          </a:p>
        </p:txBody>
      </p:sp>
      <p:sp>
        <p:nvSpPr>
          <p:cNvPr id="5" name="Rectangle 1"/>
          <p:cNvSpPr/>
          <p:nvPr/>
        </p:nvSpPr>
        <p:spPr>
          <a:xfrm>
            <a:off x="0" y="4219575"/>
            <a:ext cx="18240375" cy="3257550"/>
          </a:xfrm>
          <a:prstGeom prst="rect">
            <a:avLst/>
          </a:prstGeom>
          <a:solidFill>
            <a:srgbClr val="5A4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2"/>
          <p:cNvSpPr txBox="1"/>
          <p:nvPr/>
        </p:nvSpPr>
        <p:spPr>
          <a:xfrm>
            <a:off x="0" y="4219575"/>
            <a:ext cx="18240375" cy="325755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High-Fidelity Switch Models</a:t>
            </a:r>
          </a:p>
          <a:p>
            <a:pPr algn="ctr"/>
            <a:r>
              <a:rPr sz="5400" b="0" i="0">
                <a:solidFill>
                  <a:srgbClr val="FFFFFF"/>
                </a:solidFill>
              </a:rPr>
              <a:t>for SDN Emulation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90500" y="190500"/>
            <a:ext cx="8096250" cy="152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issed_0001_logo_icon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3677" y="190500"/>
            <a:ext cx="4569895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17021175" y="12944475"/>
            <a:ext cx="20002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0" y="1333500"/>
            <a:ext cx="18288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5400" b="0" i="0">
                <a:solidFill>
                  <a:srgbClr val="FFFFFF"/>
                </a:solidFill>
              </a:rPr>
              <a:t>Buying OpenFlow Switches</a:t>
            </a:r>
          </a:p>
        </p:txBody>
      </p:sp>
      <p:pic>
        <p:nvPicPr>
          <p:cNvPr id="7" name="Picture 6" descr="iter00_component_0006_line_chart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488" y="2990850"/>
            <a:ext cx="11261873" cy="7248525"/>
          </a:xfrm>
          <a:prstGeom prst="rect">
            <a:avLst/>
          </a:prstGeom>
        </p:spPr>
      </p:pic>
      <p:sp>
        <p:nvSpPr>
          <p:cNvPr id="8" name="Rounded Rectangle 1"/>
          <p:cNvSpPr/>
          <p:nvPr/>
        </p:nvSpPr>
        <p:spPr>
          <a:xfrm>
            <a:off x="1104900" y="3162300"/>
            <a:ext cx="2321719" cy="676084"/>
          </a:xfrm>
          <a:prstGeom prst="roundRect">
            <a:avLst/>
          </a:prstGeom>
          <a:solidFill>
            <a:srgbClr val="C9892C"/>
          </a:solidFill>
          <a:ln w="19050">
            <a:solidFill>
              <a:srgbClr val="E8A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</a:rPr>
              <a:t>Clients</a:t>
            </a:r>
          </a:p>
        </p:txBody>
      </p:sp>
      <p:sp>
        <p:nvSpPr>
          <p:cNvPr id="9" name="Rectangle 2"/>
          <p:cNvSpPr/>
          <p:nvPr/>
        </p:nvSpPr>
        <p:spPr>
          <a:xfrm>
            <a:off x="1783556" y="4031552"/>
            <a:ext cx="1143000" cy="2028254"/>
          </a:xfrm>
          <a:prstGeom prst="rect">
            <a:avLst/>
          </a:prstGeom>
          <a:solidFill>
            <a:srgbClr val="5A4628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3"/>
          <p:cNvSpPr/>
          <p:nvPr/>
        </p:nvSpPr>
        <p:spPr>
          <a:xfrm>
            <a:off x="1926431" y="4417886"/>
            <a:ext cx="178594" cy="1255586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Up-Down Arrow 4"/>
          <p:cNvSpPr/>
          <p:nvPr/>
        </p:nvSpPr>
        <p:spPr>
          <a:xfrm>
            <a:off x="2247900" y="6156388"/>
            <a:ext cx="214312" cy="772668"/>
          </a:xfrm>
          <a:prstGeom prst="upDownArrow">
            <a:avLst/>
          </a:prstGeom>
          <a:solidFill>
            <a:srgbClr val="C9892C"/>
          </a:solidFill>
          <a:ln w="9525">
            <a:solidFill>
              <a:srgbClr val="5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5"/>
          <p:cNvSpPr/>
          <p:nvPr/>
        </p:nvSpPr>
        <p:spPr>
          <a:xfrm>
            <a:off x="997744" y="7025640"/>
            <a:ext cx="2786062" cy="1738503"/>
          </a:xfrm>
          <a:prstGeom prst="rect">
            <a:avLst/>
          </a:prstGeom>
          <a:solidFill>
            <a:srgbClr val="3D3D3D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ight Arrow 6"/>
          <p:cNvSpPr/>
          <p:nvPr/>
        </p:nvSpPr>
        <p:spPr>
          <a:xfrm>
            <a:off x="1354931" y="7315390"/>
            <a:ext cx="892969" cy="482918"/>
          </a:xfrm>
          <a:prstGeom prst="rightArrow">
            <a:avLst/>
          </a:prstGeom>
          <a:solidFill>
            <a:srgbClr val="E8A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eft Arrow 7"/>
          <p:cNvSpPr/>
          <p:nvPr/>
        </p:nvSpPr>
        <p:spPr>
          <a:xfrm>
            <a:off x="2426494" y="7315390"/>
            <a:ext cx="892969" cy="482918"/>
          </a:xfrm>
          <a:prstGeom prst="leftArrow">
            <a:avLst/>
          </a:prstGeom>
          <a:solidFill>
            <a:srgbClr val="E8A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Left Arrow 8"/>
          <p:cNvSpPr/>
          <p:nvPr/>
        </p:nvSpPr>
        <p:spPr>
          <a:xfrm>
            <a:off x="1354931" y="7991475"/>
            <a:ext cx="892969" cy="482918"/>
          </a:xfrm>
          <a:prstGeom prst="leftArrow">
            <a:avLst/>
          </a:prstGeom>
          <a:solidFill>
            <a:srgbClr val="E8A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ight Arrow 9"/>
          <p:cNvSpPr/>
          <p:nvPr/>
        </p:nvSpPr>
        <p:spPr>
          <a:xfrm>
            <a:off x="2426494" y="7991475"/>
            <a:ext cx="892969" cy="482918"/>
          </a:xfrm>
          <a:prstGeom prst="rightArrow">
            <a:avLst/>
          </a:prstGeom>
          <a:solidFill>
            <a:srgbClr val="E8A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Up-Down Arrow 10"/>
          <p:cNvSpPr/>
          <p:nvPr/>
        </p:nvSpPr>
        <p:spPr>
          <a:xfrm>
            <a:off x="2247900" y="8860726"/>
            <a:ext cx="214312" cy="772668"/>
          </a:xfrm>
          <a:prstGeom prst="upDownArrow">
            <a:avLst/>
          </a:prstGeom>
          <a:solidFill>
            <a:srgbClr val="C9892C"/>
          </a:solidFill>
          <a:ln w="9525">
            <a:solidFill>
              <a:srgbClr val="5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1"/>
          <p:cNvSpPr/>
          <p:nvPr/>
        </p:nvSpPr>
        <p:spPr>
          <a:xfrm>
            <a:off x="1783556" y="9729978"/>
            <a:ext cx="1143000" cy="2028254"/>
          </a:xfrm>
          <a:prstGeom prst="rect">
            <a:avLst/>
          </a:prstGeom>
          <a:solidFill>
            <a:srgbClr val="3D3D3D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2"/>
          <p:cNvSpPr/>
          <p:nvPr/>
        </p:nvSpPr>
        <p:spPr>
          <a:xfrm>
            <a:off x="1926431" y="10116312"/>
            <a:ext cx="178594" cy="1255586"/>
          </a:xfrm>
          <a:prstGeom prst="rect">
            <a:avLst/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3"/>
          <p:cNvSpPr/>
          <p:nvPr/>
        </p:nvSpPr>
        <p:spPr>
          <a:xfrm>
            <a:off x="819150" y="11951398"/>
            <a:ext cx="2786062" cy="772668"/>
          </a:xfrm>
          <a:prstGeom prst="roundRect">
            <a:avLst/>
          </a:prstGeom>
          <a:solidFill>
            <a:srgbClr val="2B2B2B"/>
          </a:solidFill>
          <a:ln w="31750">
            <a:solidFill>
              <a:srgbClr val="C98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14"/>
          <p:cNvSpPr/>
          <p:nvPr/>
        </p:nvSpPr>
        <p:spPr>
          <a:xfrm>
            <a:off x="962025" y="12047982"/>
            <a:ext cx="250031" cy="579501"/>
          </a:xfrm>
          <a:prstGeom prst="ellipse">
            <a:avLst/>
          </a:prstGeom>
          <a:solidFill>
            <a:srgbClr val="E8A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5-Point Star 15"/>
          <p:cNvSpPr/>
          <p:nvPr/>
        </p:nvSpPr>
        <p:spPr>
          <a:xfrm>
            <a:off x="997744" y="12144566"/>
            <a:ext cx="178594" cy="386334"/>
          </a:xfrm>
          <a:prstGeom prst="star5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16"/>
          <p:cNvSpPr/>
          <p:nvPr/>
        </p:nvSpPr>
        <p:spPr>
          <a:xfrm>
            <a:off x="1283494" y="12047982"/>
            <a:ext cx="1785938" cy="57950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l"/>
            <a:r>
              <a:rPr sz="3600" b="1" i="0">
                <a:solidFill>
                  <a:srgbClr val="C9892C"/>
                </a:solidFill>
              </a:rPr>
              <a:t>red</a:t>
            </a:r>
          </a:p>
        </p:txBody>
      </p:sp>
      <p:pic>
        <p:nvPicPr>
          <p:cNvPr id="24" name="Picture 23" descr="missed_0001_illustration_g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860" y="9048750"/>
            <a:ext cx="4286029" cy="4572000"/>
          </a:xfrm>
          <a:prstGeom prst="rect">
            <a:avLst/>
          </a:prstGeom>
        </p:spPr>
      </p:pic>
      <p:sp>
        <p:nvSpPr>
          <p:cNvPr id="5" name="Rounded Rectangle 1"/>
          <p:cNvSpPr/>
          <p:nvPr/>
        </p:nvSpPr>
        <p:spPr>
          <a:xfrm>
            <a:off x="8491154" y="9245586"/>
            <a:ext cx="8955042" cy="3084802"/>
          </a:xfrm>
          <a:prstGeom prst="roundRect">
            <a:avLst/>
          </a:prstGeom>
          <a:solidFill>
            <a:srgbClr val="C9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2"/>
          <p:cNvSpPr txBox="1"/>
          <p:nvPr/>
        </p:nvSpPr>
        <p:spPr>
          <a:xfrm>
            <a:off x="8491154" y="9245586"/>
            <a:ext cx="8955042" cy="3084802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/>
            <a:r>
              <a:rPr sz="2800" b="0" i="1">
                <a:solidFill>
                  <a:srgbClr val="FFFFFF"/>
                </a:solidFill>
              </a:rPr>
              <a:t>Same topology.</a:t>
            </a:r>
          </a:p>
          <a:p>
            <a:pPr algn="ctr"/>
            <a:r>
              <a:rPr sz="2800" b="0" i="1">
                <a:solidFill>
                  <a:srgbClr val="FFFFFF"/>
                </a:solidFill>
              </a:rPr>
              <a:t>Same workload.</a:t>
            </a:r>
          </a:p>
          <a:p>
            <a:pPr algn="ctr"/>
            <a:r>
              <a:rPr sz="2800" b="0" i="1">
                <a:solidFill>
                  <a:srgbClr val="FFFFFF"/>
                </a:solidFill>
              </a:rPr>
              <a:t>Different performance!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16906875" y="12963525"/>
            <a:ext cx="314325" cy="247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888888"/>
                </a:solidFill>
              </a:rPr>
              <a:t>10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1095375" y="1323975"/>
            <a:ext cx="8905875" cy="10096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7020" b="0" i="0">
                <a:solidFill>
                  <a:srgbClr val="FFFFFF"/>
                </a:solidFill>
              </a:rPr>
              <a:t>Control-Path Delays</a:t>
            </a:r>
          </a:p>
        </p:txBody>
      </p:sp>
      <p:sp>
        <p:nvSpPr>
          <p:cNvPr id="7" name="Rectangle 1"/>
          <p:cNvSpPr/>
          <p:nvPr/>
        </p:nvSpPr>
        <p:spPr>
          <a:xfrm>
            <a:off x="1821809" y="3295650"/>
            <a:ext cx="14275441" cy="1434084"/>
          </a:xfrm>
          <a:prstGeom prst="rect">
            <a:avLst/>
          </a:prstGeom>
          <a:solidFill>
            <a:srgbClr val="3D3D3D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r"/>
            <a:r>
              <a:rPr sz="2800" b="0" i="1">
                <a:solidFill>
                  <a:srgbClr val="E8A547"/>
                </a:solidFill>
              </a:rPr>
              <a:t>Controller (POX)</a:t>
            </a:r>
          </a:p>
        </p:txBody>
      </p:sp>
      <p:sp>
        <p:nvSpPr>
          <p:cNvPr id="8" name="Rectangle 2"/>
          <p:cNvSpPr/>
          <p:nvPr/>
        </p:nvSpPr>
        <p:spPr>
          <a:xfrm>
            <a:off x="1821809" y="5939742"/>
            <a:ext cx="14275441" cy="3764470"/>
          </a:xfrm>
          <a:prstGeom prst="rect">
            <a:avLst/>
          </a:prstGeom>
          <a:solidFill>
            <a:srgbClr val="2B2B2B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3"/>
          <p:cNvSpPr/>
          <p:nvPr/>
        </p:nvSpPr>
        <p:spPr>
          <a:xfrm>
            <a:off x="1821809" y="11003852"/>
            <a:ext cx="14275441" cy="1254824"/>
          </a:xfrm>
          <a:prstGeom prst="rect">
            <a:avLst/>
          </a:prstGeom>
          <a:solidFill>
            <a:srgbClr val="5A4628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800" b="0" i="1">
                <a:solidFill>
                  <a:srgbClr val="E8A547"/>
                </a:solidFill>
              </a:rPr>
              <a:t>Application Workload</a:t>
            </a:r>
          </a:p>
        </p:txBody>
      </p:sp>
      <p:sp>
        <p:nvSpPr>
          <p:cNvPr id="10" name="Rectangle 4"/>
          <p:cNvSpPr/>
          <p:nvPr/>
        </p:nvSpPr>
        <p:spPr>
          <a:xfrm>
            <a:off x="13029676" y="7060120"/>
            <a:ext cx="3067574" cy="2644092"/>
          </a:xfrm>
          <a:prstGeom prst="rect">
            <a:avLst/>
          </a:prstGeom>
          <a:solidFill>
            <a:srgbClr val="2B2B2B"/>
          </a:solidFill>
          <a:ln w="9525"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800" b="0" i="1">
                <a:solidFill>
                  <a:srgbClr val="E8A547"/>
                </a:solidFill>
              </a:rPr>
              <a:t>OpenFlow</a:t>
            </a:r>
          </a:p>
          <a:p>
            <a:pPr algn="ctr"/>
            <a:r>
              <a:rPr sz="2800" b="0" i="1">
                <a:solidFill>
                  <a:srgbClr val="E8A547"/>
                </a:solidFill>
              </a:rPr>
              <a:t>Switch</a:t>
            </a:r>
          </a:p>
        </p:txBody>
      </p:sp>
      <p:sp>
        <p:nvSpPr>
          <p:cNvPr id="11" name="Up Arrow 5"/>
          <p:cNvSpPr/>
          <p:nvPr/>
        </p:nvSpPr>
        <p:spPr>
          <a:xfrm>
            <a:off x="2704671" y="6163818"/>
            <a:ext cx="748189" cy="3226689"/>
          </a:xfrm>
          <a:prstGeom prst="upArrow">
            <a:avLst/>
          </a:prstGeom>
          <a:solidFill>
            <a:srgbClr val="C9892C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Down Arrow 6"/>
          <p:cNvSpPr/>
          <p:nvPr/>
        </p:nvSpPr>
        <p:spPr>
          <a:xfrm>
            <a:off x="5547789" y="6163818"/>
            <a:ext cx="748189" cy="3226689"/>
          </a:xfrm>
          <a:prstGeom prst="downArrow">
            <a:avLst/>
          </a:prstGeom>
          <a:solidFill>
            <a:srgbClr val="C9892C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7"/>
          <p:cNvSpPr/>
          <p:nvPr/>
        </p:nvSpPr>
        <p:spPr>
          <a:xfrm>
            <a:off x="1432751" y="7194566"/>
            <a:ext cx="2020110" cy="1434084"/>
          </a:xfrm>
          <a:prstGeom prst="rect">
            <a:avLst/>
          </a:prstGeom>
          <a:solidFill>
            <a:srgbClr val="5A4628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Ingress</a:t>
            </a:r>
          </a:p>
          <a:p>
            <a:pPr algn="ctr"/>
            <a:r>
              <a:rPr sz="1800" b="0" i="0">
                <a:solidFill>
                  <a:srgbClr val="E8A547"/>
                </a:solidFill>
              </a:rPr>
              <a:t>Delay</a:t>
            </a:r>
          </a:p>
        </p:txBody>
      </p:sp>
      <p:sp>
        <p:nvSpPr>
          <p:cNvPr id="14" name="Rounded Rectangle 8"/>
          <p:cNvSpPr/>
          <p:nvPr/>
        </p:nvSpPr>
        <p:spPr>
          <a:xfrm>
            <a:off x="3826954" y="7329011"/>
            <a:ext cx="2394204" cy="1165193"/>
          </a:xfrm>
          <a:prstGeom prst="roundRect">
            <a:avLst/>
          </a:prstGeom>
          <a:solidFill>
            <a:srgbClr val="3D3D3D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200" b="0" i="0">
                <a:solidFill>
                  <a:srgbClr val="E8A547"/>
                </a:solidFill>
              </a:rPr>
              <a:t>CPU</a:t>
            </a:r>
          </a:p>
        </p:txBody>
      </p:sp>
      <p:sp>
        <p:nvSpPr>
          <p:cNvPr id="15" name="Rectangle 9"/>
          <p:cNvSpPr/>
          <p:nvPr/>
        </p:nvSpPr>
        <p:spPr>
          <a:xfrm>
            <a:off x="6221158" y="7194566"/>
            <a:ext cx="2020110" cy="1434084"/>
          </a:xfrm>
          <a:prstGeom prst="rect">
            <a:avLst/>
          </a:prstGeom>
          <a:solidFill>
            <a:srgbClr val="5A4628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Egress</a:t>
            </a:r>
          </a:p>
          <a:p>
            <a:pPr algn="ctr"/>
            <a:r>
              <a:rPr sz="1800" b="0" i="0">
                <a:solidFill>
                  <a:srgbClr val="E8A547"/>
                </a:solidFill>
              </a:rPr>
              <a:t>Delay</a:t>
            </a:r>
          </a:p>
        </p:txBody>
      </p:sp>
      <p:sp>
        <p:nvSpPr>
          <p:cNvPr id="16" name="Rounded Rectangle 10"/>
          <p:cNvSpPr/>
          <p:nvPr/>
        </p:nvSpPr>
        <p:spPr>
          <a:xfrm>
            <a:off x="10485834" y="8270129"/>
            <a:ext cx="2394204" cy="1165193"/>
          </a:xfrm>
          <a:prstGeom prst="roundRect">
            <a:avLst/>
          </a:prstGeom>
          <a:solidFill>
            <a:srgbClr val="3D3D3D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2200" b="0" i="0">
                <a:solidFill>
                  <a:srgbClr val="E8A547"/>
                </a:solidFill>
              </a:rPr>
              <a:t>TCAM</a:t>
            </a:r>
          </a:p>
        </p:txBody>
      </p:sp>
      <p:cxnSp>
        <p:nvCxnSpPr>
          <p:cNvPr id="17" name="Connector 11"/>
          <p:cNvCxnSpPr/>
          <p:nvPr/>
        </p:nvCxnSpPr>
        <p:spPr>
          <a:xfrm>
            <a:off x="8465725" y="6163818"/>
            <a:ext cx="0" cy="2688908"/>
          </a:xfrm>
          <a:prstGeom prst="line">
            <a:avLst/>
          </a:prstGeom>
          <a:ln w="25400">
            <a:solidFill>
              <a:srgbClr val="5A4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2"/>
          <p:cNvCxnSpPr/>
          <p:nvPr/>
        </p:nvCxnSpPr>
        <p:spPr>
          <a:xfrm>
            <a:off x="8465725" y="6163818"/>
            <a:ext cx="299275" cy="0"/>
          </a:xfrm>
          <a:prstGeom prst="line">
            <a:avLst/>
          </a:prstGeom>
          <a:ln w="25400">
            <a:solidFill>
              <a:srgbClr val="5A4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3"/>
          <p:cNvCxnSpPr/>
          <p:nvPr/>
        </p:nvCxnSpPr>
        <p:spPr>
          <a:xfrm>
            <a:off x="8465725" y="8852726"/>
            <a:ext cx="299275" cy="0"/>
          </a:xfrm>
          <a:prstGeom prst="line">
            <a:avLst/>
          </a:prstGeom>
          <a:ln w="25400">
            <a:solidFill>
              <a:srgbClr val="5A4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4"/>
          <p:cNvCxnSpPr/>
          <p:nvPr/>
        </p:nvCxnSpPr>
        <p:spPr>
          <a:xfrm>
            <a:off x="8465725" y="7508272"/>
            <a:ext cx="299275" cy="0"/>
          </a:xfrm>
          <a:prstGeom prst="line">
            <a:avLst/>
          </a:prstGeom>
          <a:ln w="25400">
            <a:solidFill>
              <a:srgbClr val="5A46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5"/>
          <p:cNvCxnSpPr/>
          <p:nvPr/>
        </p:nvCxnSpPr>
        <p:spPr>
          <a:xfrm flipV="1">
            <a:off x="3078766" y="9704213"/>
            <a:ext cx="0" cy="1299639"/>
          </a:xfrm>
          <a:prstGeom prst="line">
            <a:avLst/>
          </a:prstGeom>
          <a:ln w="25400">
            <a:solidFill>
              <a:srgbClr val="C989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6"/>
          <p:cNvCxnSpPr/>
          <p:nvPr/>
        </p:nvCxnSpPr>
        <p:spPr>
          <a:xfrm>
            <a:off x="5921883" y="9704213"/>
            <a:ext cx="0" cy="1299639"/>
          </a:xfrm>
          <a:prstGeom prst="line">
            <a:avLst/>
          </a:prstGeom>
          <a:ln w="25400">
            <a:solidFill>
              <a:srgbClr val="C989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17"/>
          <p:cNvCxnSpPr/>
          <p:nvPr/>
        </p:nvCxnSpPr>
        <p:spPr>
          <a:xfrm flipV="1">
            <a:off x="11009567" y="9704213"/>
            <a:ext cx="0" cy="1299639"/>
          </a:xfrm>
          <a:prstGeom prst="line">
            <a:avLst/>
          </a:prstGeom>
          <a:ln w="25400">
            <a:solidFill>
              <a:srgbClr val="E8A5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18"/>
          <p:cNvCxnSpPr/>
          <p:nvPr/>
        </p:nvCxnSpPr>
        <p:spPr>
          <a:xfrm>
            <a:off x="11757755" y="9704213"/>
            <a:ext cx="0" cy="1299639"/>
          </a:xfrm>
          <a:prstGeom prst="line">
            <a:avLst/>
          </a:prstGeom>
          <a:ln w="25400">
            <a:solidFill>
              <a:srgbClr val="E8A54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19"/>
          <p:cNvCxnSpPr/>
          <p:nvPr/>
        </p:nvCxnSpPr>
        <p:spPr>
          <a:xfrm flipV="1">
            <a:off x="3078766" y="4729734"/>
            <a:ext cx="0" cy="1210008"/>
          </a:xfrm>
          <a:prstGeom prst="line">
            <a:avLst/>
          </a:prstGeom>
          <a:ln w="25400">
            <a:solidFill>
              <a:srgbClr val="C989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0"/>
          <p:cNvCxnSpPr/>
          <p:nvPr/>
        </p:nvCxnSpPr>
        <p:spPr>
          <a:xfrm>
            <a:off x="5921883" y="4729734"/>
            <a:ext cx="0" cy="1210008"/>
          </a:xfrm>
          <a:prstGeom prst="line">
            <a:avLst/>
          </a:prstGeom>
          <a:ln w="25400">
            <a:solidFill>
              <a:srgbClr val="C9892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1"/>
          <p:cNvSpPr/>
          <p:nvPr/>
        </p:nvSpPr>
        <p:spPr>
          <a:xfrm>
            <a:off x="1133475" y="4819364"/>
            <a:ext cx="2693479" cy="10755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Packet-in</a:t>
            </a:r>
          </a:p>
          <a:p>
            <a:pPr algn="ctr"/>
            <a:r>
              <a:rPr sz="1800" b="0" i="0">
                <a:solidFill>
                  <a:srgbClr val="E8A547"/>
                </a:solidFill>
              </a:rPr>
              <a:t>Events</a:t>
            </a:r>
          </a:p>
        </p:txBody>
      </p:sp>
      <p:sp>
        <p:nvSpPr>
          <p:cNvPr id="28" name="Rectangle 22"/>
          <p:cNvSpPr/>
          <p:nvPr/>
        </p:nvSpPr>
        <p:spPr>
          <a:xfrm>
            <a:off x="4575143" y="4819364"/>
            <a:ext cx="2693479" cy="107556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Flow-mod</a:t>
            </a:r>
          </a:p>
          <a:p>
            <a:pPr algn="ctr"/>
            <a:r>
              <a:rPr sz="1800" b="0" i="0">
                <a:solidFill>
                  <a:srgbClr val="E8A547"/>
                </a:solidFill>
              </a:rPr>
              <a:t>Events</a:t>
            </a:r>
          </a:p>
        </p:txBody>
      </p:sp>
      <p:sp>
        <p:nvSpPr>
          <p:cNvPr id="29" name="Rectangle 23"/>
          <p:cNvSpPr/>
          <p:nvPr/>
        </p:nvSpPr>
        <p:spPr>
          <a:xfrm>
            <a:off x="1432751" y="9928289"/>
            <a:ext cx="2394204" cy="627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Ingress</a:t>
            </a:r>
          </a:p>
        </p:txBody>
      </p:sp>
      <p:sp>
        <p:nvSpPr>
          <p:cNvPr id="30" name="Rectangle 24"/>
          <p:cNvSpPr/>
          <p:nvPr/>
        </p:nvSpPr>
        <p:spPr>
          <a:xfrm>
            <a:off x="5173694" y="9928289"/>
            <a:ext cx="2394204" cy="627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Egress</a:t>
            </a:r>
          </a:p>
        </p:txBody>
      </p:sp>
      <p:sp>
        <p:nvSpPr>
          <p:cNvPr id="31" name="Rectangle 25"/>
          <p:cNvSpPr/>
          <p:nvPr/>
        </p:nvSpPr>
        <p:spPr>
          <a:xfrm>
            <a:off x="11907393" y="10107549"/>
            <a:ext cx="4040219" cy="6274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000" rIns="36000" tIns="18000" bIns="18000">
            <a:noAutofit/>
          </a:bodyPr>
          <a:lstStyle/>
          <a:p>
            <a:pPr algn="ctr"/>
            <a:r>
              <a:rPr sz="1800" b="0" i="0">
                <a:solidFill>
                  <a:srgbClr val="E8A547"/>
                </a:solidFill>
              </a:rPr>
              <a:t>Data plane traffic</a:t>
            </a:r>
          </a:p>
        </p:txBody>
      </p:sp>
      <p:sp>
        <p:nvSpPr>
          <p:cNvPr id="5" name="Oval 1"/>
          <p:cNvSpPr/>
          <p:nvPr/>
        </p:nvSpPr>
        <p:spPr>
          <a:xfrm>
            <a:off x="8924925" y="4105275"/>
            <a:ext cx="8267700" cy="3790950"/>
          </a:xfrm>
          <a:prstGeom prst="ellipse">
            <a:avLst/>
          </a:prstGeom>
          <a:solidFill>
            <a:srgbClr val="C9892C"/>
          </a:solidFill>
          <a:ln w="25400">
            <a:solidFill>
              <a:srgbClr val="5A4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2"/>
          <p:cNvSpPr txBox="1"/>
          <p:nvPr/>
        </p:nvSpPr>
        <p:spPr>
          <a:xfrm>
            <a:off x="8924925" y="4105275"/>
            <a:ext cx="8267700" cy="3790950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Disproportionately</a:t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>affects short 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16887825" y="12963525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" name="Rounded Rectangle 1"/>
          <p:cNvSpPr/>
          <p:nvPr/>
        </p:nvSpPr>
        <p:spPr>
          <a:xfrm>
            <a:off x="4161276" y="2226815"/>
            <a:ext cx="5800592" cy="1941799"/>
          </a:xfrm>
          <a:prstGeom prst="roundRect">
            <a:avLst/>
          </a:prstGeom>
          <a:solidFill>
            <a:srgbClr val="C9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2"/>
          <p:cNvSpPr txBox="1"/>
          <p:nvPr/>
        </p:nvSpPr>
        <p:spPr>
          <a:xfrm>
            <a:off x="4161276" y="2226815"/>
            <a:ext cx="5800592" cy="1941799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 tIns="18000" bIns="18000" anchor="ctr">
            <a:no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</a:rPr>
              <a:t>OVS: almost</a:t>
            </a:r>
          </a:p>
          <a:p>
            <a:pPr algn="ctr"/>
            <a:r>
              <a:rPr sz="3600" b="0" i="0">
                <a:solidFill>
                  <a:srgbClr val="FFFFFF"/>
                </a:solidFill>
              </a:rPr>
              <a:t>no delays!</a:t>
            </a:r>
          </a:p>
        </p:txBody>
      </p:sp>
      <p:pic>
        <p:nvPicPr>
          <p:cNvPr id="6" name="Picture 5" descr="iter00_component_0003_line_chart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575" y="3715474"/>
            <a:ext cx="14277975" cy="8723451"/>
          </a:xfrm>
          <a:prstGeom prst="rect">
            <a:avLst/>
          </a:prstGeom>
        </p:spPr>
      </p:pic>
      <p:sp>
        <p:nvSpPr>
          <p:cNvPr id="7" name="TextBox 1"/>
          <p:cNvSpPr txBox="1"/>
          <p:nvPr/>
        </p:nvSpPr>
        <p:spPr>
          <a:xfrm>
            <a:off x="1181100" y="1390650"/>
            <a:ext cx="14163675" cy="23526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560" b="0" i="0">
                <a:solidFill>
                  <a:srgbClr val="FFFFFF"/>
                </a:solidFill>
              </a:rPr>
              <a:t>Measure Egress Delay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16897350" y="12963525"/>
            <a:ext cx="314325" cy="2571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</a:rPr>
              <a:t>19</a:t>
            </a:r>
          </a:p>
        </p:txBody>
      </p:sp>
      <p:cxnSp>
        <p:nvCxnSpPr>
          <p:cNvPr id="4" name="Connector 1"/>
          <p:cNvCxnSpPr/>
          <p:nvPr/>
        </p:nvCxnSpPr>
        <p:spPr>
          <a:xfrm>
            <a:off x="6044506" y="11520553"/>
            <a:ext cx="296790" cy="0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2"/>
          <p:cNvCxnSpPr/>
          <p:nvPr/>
        </p:nvCxnSpPr>
        <p:spPr>
          <a:xfrm>
            <a:off x="6341296" y="11520553"/>
            <a:ext cx="0" cy="868477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3"/>
          <p:cNvCxnSpPr/>
          <p:nvPr/>
        </p:nvCxnSpPr>
        <p:spPr>
          <a:xfrm>
            <a:off x="6341296" y="12389030"/>
            <a:ext cx="263813" cy="36957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4"/>
          <p:cNvCxnSpPr/>
          <p:nvPr/>
        </p:nvCxnSpPr>
        <p:spPr>
          <a:xfrm flipV="1">
            <a:off x="6341296" y="12425987"/>
            <a:ext cx="263813" cy="36956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5"/>
          <p:cNvCxnSpPr/>
          <p:nvPr/>
        </p:nvCxnSpPr>
        <p:spPr>
          <a:xfrm>
            <a:off x="6341296" y="12462943"/>
            <a:ext cx="0" cy="868478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6"/>
          <p:cNvCxnSpPr/>
          <p:nvPr/>
        </p:nvCxnSpPr>
        <p:spPr>
          <a:xfrm flipH="1">
            <a:off x="6044506" y="13331421"/>
            <a:ext cx="296790" cy="0"/>
          </a:xfrm>
          <a:prstGeom prst="line">
            <a:avLst/>
          </a:prstGeom>
          <a:ln w="25400">
            <a:solidFill>
              <a:srgbClr val="C9892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"/>
          <p:cNvSpPr txBox="1"/>
          <p:nvPr/>
        </p:nvSpPr>
        <p:spPr>
          <a:xfrm>
            <a:off x="933450" y="1838325"/>
            <a:ext cx="3276600" cy="723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4000" b="1" i="1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9344025" y="1828800"/>
            <a:ext cx="4200525" cy="6096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3960" b="1" i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12" name="TextBox 1"/>
          <p:cNvSpPr txBox="1"/>
          <p:nvPr/>
        </p:nvSpPr>
        <p:spPr>
          <a:xfrm>
            <a:off x="923925" y="3390900"/>
            <a:ext cx="15687675" cy="9667875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380" b="0" i="0">
                <a:solidFill>
                  <a:srgbClr val="FFFFFF"/>
                </a:solidFill>
              </a:rPr>
              <a:t>• Hard to predict performance due to vendor variations.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• We designed an emulator for control-path delays.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• Simple, but achieves reasonable approximation.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• Increase realism. Capture more artifacts.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• Expand workload coverage. Automate switch measurements.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• Capture interactions among multiple switches.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/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Acknowledgements	Marco Canini and Dan Levin (TU Berlin)</a:t>
            </a:r>
          </a:p>
          <a:p>
            <a:pPr algn="l"/>
            <a:r>
              <a:rPr sz="2380" b="0" i="0">
                <a:solidFill>
                  <a:srgbClr val="FFFFFF"/>
                </a:solidFill>
              </a:rPr>
              <a:t>	George Porter (UC San Diego)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3716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16887825" y="12954000"/>
            <a:ext cx="3238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r"/>
            <a:r>
              <a:rPr sz="1400" b="0" i="0">
                <a:solidFill>
                  <a:srgbClr val="999999"/>
                </a:solidFill>
              </a:rPr>
              <a:t>23</a:t>
            </a:r>
          </a:p>
        </p:txBody>
      </p:sp>
      <p:sp>
        <p:nvSpPr>
          <p:cNvPr id="4" name="TextBox 1"/>
          <p:cNvSpPr txBox="1"/>
          <p:nvPr/>
        </p:nvSpPr>
        <p:spPr>
          <a:xfrm>
            <a:off x="6105525" y="1333500"/>
            <a:ext cx="5962650" cy="8191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</a:rPr>
              <a:t>Time Dilation</a:t>
            </a:r>
          </a:p>
        </p:txBody>
      </p:sp>
      <p:pic>
        <p:nvPicPr>
          <p:cNvPr id="5" name="Picture 4" descr="iter00_component_0003_composite_visualization_g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438" y="5200650"/>
            <a:ext cx="13687425" cy="45624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
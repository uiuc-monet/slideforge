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24393525" cy="1371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pe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93525" cy="13716000"/>
          </a:xfrm>
          <a:prstGeom prst="rect">
            <a:avLst/>
          </a:prstGeom>
        </p:spPr>
      </p:pic>
      <p:sp>
        <p:nvSpPr>
          <p:cNvPr id="3" name="TextBox 1"/>
          <p:cNvSpPr txBox="1"/>
          <p:nvPr/>
        </p:nvSpPr>
        <p:spPr>
          <a:xfrm>
            <a:off x="22383750" y="12963525"/>
            <a:ext cx="142875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0" i="0">
                <a:solidFill>
                  <a:srgbClr val="1B2A44"/>
                </a:solidFill>
              </a:rPr>
              <a:t>1</a:t>
            </a:r>
          </a:p>
        </p:txBody>
      </p:sp>
      <p:sp>
        <p:nvSpPr>
          <p:cNvPr id="4" name="TextBox 1"/>
          <p:cNvSpPr txBox="1"/>
          <p:nvPr/>
        </p:nvSpPr>
        <p:spPr>
          <a:xfrm>
            <a:off x="5286375" y="7477125"/>
            <a:ext cx="13773150" cy="12858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3600" b="0" i="0">
                <a:solidFill>
                  <a:srgbClr val="1B2A44"/>
                </a:solidFill>
              </a:rPr>
              <a:t>Yu Guan, Chengyuan Zheng, Xinggong Zhang, Zongming</a:t>
            </a:r>
          </a:p>
          <a:p>
            <a:pPr algn="ctr"/>
            <a:r>
              <a:rPr sz="3600" b="0" i="0">
                <a:solidFill>
                  <a:srgbClr val="1B2A44"/>
                </a:solidFill>
              </a:rPr>
              <a:t>Guo, Junchen Jiang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0" y="9867900"/>
            <a:ext cx="13535025" cy="1676400"/>
          </a:xfrm>
          <a:prstGeom prst="rect">
            <a:avLst/>
          </a:prstGeom>
          <a:solidFill>
            <a:srgbClr val="1B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iter00_component_0003_logo_icon_g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2693" y="9867900"/>
            <a:ext cx="5017639" cy="1676400"/>
          </a:xfrm>
          <a:prstGeom prst="rect">
            <a:avLst/>
          </a:prstGeom>
        </p:spPr>
      </p:pic>
      <p:sp>
        <p:nvSpPr>
          <p:cNvPr id="7" name="TextBox 1"/>
          <p:cNvSpPr txBox="1"/>
          <p:nvPr/>
        </p:nvSpPr>
        <p:spPr>
          <a:xfrm>
            <a:off x="2152650" y="2724150"/>
            <a:ext cx="20069175" cy="35909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5400" b="0" i="0">
                <a:solidFill>
                  <a:srgbClr val="1B2A44"/>
                </a:solidFill>
              </a:rPr>
              <a:t>Pano: Optimizing 360 Video Streaming</a:t>
            </a:r>
          </a:p>
          <a:p>
            <a:pPr algn="ctr"/>
            <a:r>
              <a:rPr sz="5400" b="0" i="0">
                <a:solidFill>
                  <a:srgbClr val="1B2A44"/>
                </a:solidFill>
              </a:rPr>
              <a:t>with a Better Understanding of</a:t>
            </a:r>
          </a:p>
          <a:p>
            <a:pPr algn="ctr"/>
            <a:r>
              <a:rPr sz="5400" b="0" i="0">
                <a:solidFill>
                  <a:srgbClr val="1B2A44"/>
                </a:solidFill>
              </a:rPr>
              <a:t>Quality Perception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93525" cy="13716000"/>
          </a:xfrm>
          <a:prstGeom prst="rect">
            <a:avLst/>
          </a:prstGeom>
        </p:spPr>
      </p:pic>
      <p:sp>
        <p:nvSpPr>
          <p:cNvPr id="3" name="TextBox 1"/>
          <p:cNvSpPr txBox="1"/>
          <p:nvPr/>
        </p:nvSpPr>
        <p:spPr>
          <a:xfrm>
            <a:off x="22359782" y="12927692"/>
            <a:ext cx="230923" cy="25174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0" i="0">
                <a:solidFill>
                  <a:srgbClr val="1B2A44"/>
                </a:solidFill>
              </a:rPr>
              <a:t>6</a:t>
            </a:r>
          </a:p>
        </p:txBody>
      </p:sp>
      <p:sp>
        <p:nvSpPr>
          <p:cNvPr id="12" name="TextBox 1"/>
          <p:cNvSpPr txBox="1"/>
          <p:nvPr/>
        </p:nvSpPr>
        <p:spPr>
          <a:xfrm>
            <a:off x="0" y="1514475"/>
            <a:ext cx="19716750" cy="11715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5400" b="0" i="0">
                <a:solidFill>
                  <a:srgbClr val="1B2A44"/>
                </a:solidFill>
              </a:rPr>
              <a:t>Key observation</a:t>
            </a:r>
          </a:p>
        </p:txBody>
      </p:sp>
      <p:pic>
        <p:nvPicPr>
          <p:cNvPr id="17" name="Picture 16" descr="iter00_component_0008_photograph_g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8517" y="4648200"/>
            <a:ext cx="12782292" cy="5343525"/>
          </a:xfrm>
          <a:prstGeom prst="rect">
            <a:avLst/>
          </a:prstGeom>
        </p:spPr>
      </p:pic>
      <p:sp>
        <p:nvSpPr>
          <p:cNvPr id="6" name="Rectangle 1"/>
          <p:cNvSpPr/>
          <p:nvPr/>
        </p:nvSpPr>
        <p:spPr>
          <a:xfrm>
            <a:off x="4730635" y="7678689"/>
            <a:ext cx="2781755" cy="331416"/>
          </a:xfrm>
          <a:prstGeom prst="rect">
            <a:avLst/>
          </a:prstGeom>
          <a:solidFill>
            <a:srgbClr val="C9A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2"/>
          <p:cNvSpPr/>
          <p:nvPr/>
        </p:nvSpPr>
        <p:spPr>
          <a:xfrm>
            <a:off x="4953175" y="7678689"/>
            <a:ext cx="2336674" cy="463983"/>
          </a:xfrm>
          <a:prstGeom prst="roundRect">
            <a:avLst/>
          </a:prstGeom>
          <a:solidFill>
            <a:srgbClr val="7A8699"/>
          </a:solidFill>
          <a:ln w="12700">
            <a:solidFill>
              <a:srgbClr val="1B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rapezoid 3"/>
          <p:cNvSpPr/>
          <p:nvPr/>
        </p:nvSpPr>
        <p:spPr>
          <a:xfrm>
            <a:off x="5898972" y="8076388"/>
            <a:ext cx="445081" cy="220944"/>
          </a:xfrm>
          <a:prstGeom prst="trapezoid">
            <a:avLst/>
          </a:prstGeom>
          <a:solidFill>
            <a:srgbClr val="7A8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4"/>
          <p:cNvSpPr/>
          <p:nvPr/>
        </p:nvSpPr>
        <p:spPr>
          <a:xfrm>
            <a:off x="5620796" y="8275238"/>
            <a:ext cx="1001432" cy="88378"/>
          </a:xfrm>
          <a:prstGeom prst="rect">
            <a:avLst/>
          </a:prstGeom>
          <a:solidFill>
            <a:srgbClr val="7A8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5"/>
          <p:cNvSpPr/>
          <p:nvPr/>
        </p:nvSpPr>
        <p:spPr>
          <a:xfrm>
            <a:off x="5732067" y="8407804"/>
            <a:ext cx="778891" cy="662832"/>
          </a:xfrm>
          <a:prstGeom prst="ellipse">
            <a:avLst/>
          </a:prstGeom>
          <a:solidFill>
            <a:srgbClr val="1B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6"/>
          <p:cNvSpPr/>
          <p:nvPr/>
        </p:nvSpPr>
        <p:spPr>
          <a:xfrm>
            <a:off x="5231351" y="9004354"/>
            <a:ext cx="1780323" cy="883777"/>
          </a:xfrm>
          <a:prstGeom prst="ellipse">
            <a:avLst/>
          </a:prstGeom>
          <a:solidFill>
            <a:srgbClr val="1B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"/>
          <p:cNvSpPr/>
          <p:nvPr/>
        </p:nvSpPr>
        <p:spPr>
          <a:xfrm>
            <a:off x="15754350" y="10426255"/>
            <a:ext cx="1076325" cy="704088"/>
          </a:xfrm>
          <a:prstGeom prst="ellipse">
            <a:avLst/>
          </a:prstGeom>
          <a:solidFill>
            <a:srgbClr val="1B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2"/>
          <p:cNvSpPr/>
          <p:nvPr/>
        </p:nvSpPr>
        <p:spPr>
          <a:xfrm>
            <a:off x="15108555" y="11218354"/>
            <a:ext cx="2367915" cy="990124"/>
          </a:xfrm>
          <a:prstGeom prst="roundRect">
            <a:avLst/>
          </a:prstGeom>
          <a:solidFill>
            <a:srgbClr val="1B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1"/>
          <p:cNvSpPr txBox="1"/>
          <p:nvPr/>
        </p:nvSpPr>
        <p:spPr>
          <a:xfrm>
            <a:off x="723900" y="12106275"/>
            <a:ext cx="1083945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800" b="0" i="0">
                <a:solidFill>
                  <a:srgbClr val="1B2A44"/>
                </a:solidFill>
              </a:rPr>
              <a:t>Watching a traditional video</a:t>
            </a:r>
          </a:p>
        </p:txBody>
      </p:sp>
      <p:sp>
        <p:nvSpPr>
          <p:cNvPr id="4" name="TextBox 1"/>
          <p:cNvSpPr txBox="1"/>
          <p:nvPr/>
        </p:nvSpPr>
        <p:spPr>
          <a:xfrm>
            <a:off x="13589662" y="12094771"/>
            <a:ext cx="5279203" cy="55497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920" b="0" i="0">
                <a:solidFill>
                  <a:srgbClr val="1B2A44"/>
                </a:solidFill>
              </a:rPr>
              <a:t>Watching a 360 video</a:t>
            </a:r>
          </a:p>
        </p:txBody>
      </p:sp>
      <p:sp>
        <p:nvSpPr>
          <p:cNvPr id="15" name="Rectangle 1"/>
          <p:cNvSpPr/>
          <p:nvPr/>
        </p:nvSpPr>
        <p:spPr>
          <a:xfrm>
            <a:off x="759925" y="5434879"/>
            <a:ext cx="22873702" cy="2243810"/>
          </a:xfrm>
          <a:prstGeom prst="rect">
            <a:avLst/>
          </a:prstGeom>
          <a:solidFill>
            <a:srgbClr val="3E51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2"/>
          <p:cNvSpPr txBox="1"/>
          <p:nvPr/>
        </p:nvSpPr>
        <p:spPr>
          <a:xfrm>
            <a:off x="759925" y="5434879"/>
            <a:ext cx="22873702" cy="224381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ctr">
            <a:noAutofit/>
          </a:bodyPr>
          <a:lstStyle/>
          <a:p>
            <a:pPr algn="ctr"/>
            <a:r>
              <a:rPr sz="2800" b="0" i="0">
                <a:solidFill>
                  <a:srgbClr val="F5F6F7"/>
                </a:solidFill>
              </a:rPr>
              <a:t>Due to the viewpoint movement, users have different span of attention to</a:t>
            </a:r>
          </a:p>
          <a:p>
            <a:pPr algn="ctr"/>
            <a:r>
              <a:rPr sz="2800" b="0" i="0">
                <a:solidFill>
                  <a:srgbClr val="F5F6F7"/>
                </a:solidFill>
              </a:rPr>
              <a:t>different pixels in the viewport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93525" cy="13716000"/>
          </a:xfrm>
          <a:prstGeom prst="rect">
            <a:avLst/>
          </a:prstGeom>
        </p:spPr>
      </p:pic>
      <p:sp>
        <p:nvSpPr>
          <p:cNvPr id="3" name="TextBox 1"/>
          <p:cNvSpPr txBox="1"/>
          <p:nvPr/>
        </p:nvSpPr>
        <p:spPr>
          <a:xfrm>
            <a:off x="22231350" y="13201650"/>
            <a:ext cx="304800" cy="2571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0" i="0">
                <a:solidFill>
                  <a:srgbClr val="1B2A44"/>
                </a:solidFill>
              </a:rPr>
              <a:t>11</a:t>
            </a:r>
          </a:p>
        </p:txBody>
      </p:sp>
      <p:sp>
        <p:nvSpPr>
          <p:cNvPr id="4" name="TextBox 1"/>
          <p:cNvSpPr txBox="1"/>
          <p:nvPr/>
        </p:nvSpPr>
        <p:spPr>
          <a:xfrm>
            <a:off x="1885950" y="1543050"/>
            <a:ext cx="7200900" cy="11049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5400" b="0" i="0">
                <a:solidFill>
                  <a:srgbClr val="1B2A44"/>
                </a:solidFill>
              </a:rPr>
              <a:t>Our approach</a:t>
            </a:r>
          </a:p>
        </p:txBody>
      </p:sp>
      <p:sp>
        <p:nvSpPr>
          <p:cNvPr id="5" name="Rectangle 1"/>
          <p:cNvSpPr/>
          <p:nvPr/>
        </p:nvSpPr>
        <p:spPr>
          <a:xfrm>
            <a:off x="914400" y="5114925"/>
            <a:ext cx="22545675" cy="1428750"/>
          </a:xfrm>
          <a:prstGeom prst="rect">
            <a:avLst/>
          </a:prstGeom>
          <a:solidFill>
            <a:srgbClr val="FFFFFF"/>
          </a:solidFill>
          <a:ln w="28575">
            <a:solidFill>
              <a:srgbClr val="C9A1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Autofit/>
          </a:bodyPr>
          <a:lstStyle/>
          <a:p>
            <a:pPr algn="ctr"/>
            <a:r>
              <a:rPr sz="2800" b="0" i="0">
                <a:solidFill>
                  <a:srgbClr val="1B2A44"/>
                </a:solidFill>
              </a:rPr>
              <a:t>Identify where the user's attention is</a:t>
            </a:r>
          </a:p>
        </p:txBody>
      </p:sp>
      <p:sp>
        <p:nvSpPr>
          <p:cNvPr id="6" name="Down Arrow 2"/>
          <p:cNvSpPr/>
          <p:nvPr/>
        </p:nvSpPr>
        <p:spPr>
          <a:xfrm>
            <a:off x="11285410" y="6760845"/>
            <a:ext cx="1803654" cy="1234440"/>
          </a:xfrm>
          <a:prstGeom prst="downArrow">
            <a:avLst/>
          </a:prstGeom>
          <a:noFill/>
          <a:ln w="12700">
            <a:solidFill>
              <a:srgbClr val="3E51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3"/>
          <p:cNvSpPr/>
          <p:nvPr/>
        </p:nvSpPr>
        <p:spPr>
          <a:xfrm>
            <a:off x="914400" y="8258175"/>
            <a:ext cx="22545675" cy="1428750"/>
          </a:xfrm>
          <a:prstGeom prst="rect">
            <a:avLst/>
          </a:prstGeom>
          <a:solidFill>
            <a:srgbClr val="FFFFFF"/>
          </a:solidFill>
          <a:ln w="28575">
            <a:solidFill>
              <a:srgbClr val="C9A1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Autofit/>
          </a:bodyPr>
          <a:lstStyle/>
          <a:p>
            <a:pPr algn="ctr"/>
            <a:r>
              <a:rPr sz="2800" b="0" i="0">
                <a:solidFill>
                  <a:srgbClr val="1B2A44"/>
                </a:solidFill>
              </a:rPr>
              <a:t>Drop the quality of areas the user doesn't pay attention 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93525" cy="13716000"/>
          </a:xfrm>
          <a:prstGeom prst="rect">
            <a:avLst/>
          </a:prstGeom>
        </p:spPr>
      </p:pic>
      <p:pic>
        <p:nvPicPr>
          <p:cNvPr id="7" name="Picture 6" descr="merged_0001_architecture_diagram_g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0570" y="1819275"/>
            <a:ext cx="19479911" cy="10963275"/>
          </a:xfrm>
          <a:prstGeom prst="rect">
            <a:avLst/>
          </a:prstGeom>
        </p:spPr>
      </p:pic>
      <p:sp>
        <p:nvSpPr>
          <p:cNvPr id="4" name="TextBox 1"/>
          <p:cNvSpPr txBox="1"/>
          <p:nvPr/>
        </p:nvSpPr>
        <p:spPr>
          <a:xfrm>
            <a:off x="0" y="962025"/>
            <a:ext cx="24393525" cy="10477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6000" b="0" i="0">
                <a:solidFill>
                  <a:srgbClr val="1B2A44"/>
                </a:solidFill>
              </a:rPr>
              <a:t>How to achieve this in a real system?</a:t>
            </a:r>
          </a:p>
        </p:txBody>
      </p:sp>
      <p:sp>
        <p:nvSpPr>
          <p:cNvPr id="5" name="Rectangle 1"/>
          <p:cNvSpPr/>
          <p:nvPr/>
        </p:nvSpPr>
        <p:spPr>
          <a:xfrm>
            <a:off x="798198" y="5881396"/>
            <a:ext cx="10241714" cy="1917160"/>
          </a:xfrm>
          <a:prstGeom prst="rect">
            <a:avLst/>
          </a:prstGeom>
          <a:solidFill>
            <a:srgbClr val="E8EAEC"/>
          </a:solidFill>
          <a:ln w="31750">
            <a:solidFill>
              <a:srgbClr val="C9A1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2"/>
          <p:cNvSpPr txBox="1"/>
          <p:nvPr/>
        </p:nvSpPr>
        <p:spPr>
          <a:xfrm>
            <a:off x="798198" y="5881396"/>
            <a:ext cx="10241714" cy="191716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ctr">
            <a:noAutofit/>
          </a:bodyPr>
          <a:lstStyle/>
          <a:p>
            <a:pPr algn="l"/>
            <a:r>
              <a:rPr sz="3600" b="0" i="0">
                <a:solidFill>
                  <a:srgbClr val="1B2A44"/>
                </a:solidFill>
              </a:rPr>
              <a:t>Challenge 2: How to encode 360</a:t>
            </a:r>
          </a:p>
          <a:p>
            <a:pPr algn="l"/>
            <a:r>
              <a:rPr sz="3600" b="0" i="0">
                <a:solidFill>
                  <a:srgbClr val="1B2A44"/>
                </a:solidFill>
              </a:rPr>
              <a:t>videos based on user perceive quality?</a:t>
            </a:r>
          </a:p>
        </p:txBody>
      </p:sp>
      <p:sp>
        <p:nvSpPr>
          <p:cNvPr id="3" name="TextBox 1"/>
          <p:cNvSpPr txBox="1"/>
          <p:nvPr/>
        </p:nvSpPr>
        <p:spPr>
          <a:xfrm>
            <a:off x="22240875" y="12954000"/>
            <a:ext cx="3048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200" b="0" i="0">
                <a:solidFill>
                  <a:srgbClr val="1B2A44"/>
                </a:solidFill>
              </a:rPr>
              <a:t>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93525" cy="13716000"/>
          </a:xfrm>
          <a:prstGeom prst="rect">
            <a:avLst/>
          </a:prstGeom>
        </p:spPr>
      </p:pic>
      <p:sp>
        <p:nvSpPr>
          <p:cNvPr id="3" name="TextBox 1"/>
          <p:cNvSpPr txBox="1"/>
          <p:nvPr/>
        </p:nvSpPr>
        <p:spPr>
          <a:xfrm>
            <a:off x="22240875" y="12954000"/>
            <a:ext cx="28575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200" b="0" i="0">
                <a:solidFill>
                  <a:srgbClr val="1B2A44"/>
                </a:solidFill>
              </a:rPr>
              <a:t>21</a:t>
            </a:r>
          </a:p>
        </p:txBody>
      </p:sp>
      <p:sp>
        <p:nvSpPr>
          <p:cNvPr id="4" name="TextBox 1"/>
          <p:cNvSpPr txBox="1"/>
          <p:nvPr/>
        </p:nvSpPr>
        <p:spPr>
          <a:xfrm>
            <a:off x="10944225" y="10125075"/>
            <a:ext cx="2867025" cy="4381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400" b="0" i="0">
                <a:solidFill>
                  <a:srgbClr val="1B2A44"/>
                </a:solidFill>
              </a:rPr>
              <a:t>Video Playback</a:t>
            </a:r>
          </a:p>
        </p:txBody>
      </p:sp>
      <p:pic>
        <p:nvPicPr>
          <p:cNvPr id="5" name="Picture 4" descr="iter00_component_0010_photograph_g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54450" y="10002319"/>
            <a:ext cx="5181600" cy="2617237"/>
          </a:xfrm>
          <a:prstGeom prst="rect">
            <a:avLst/>
          </a:prstGeom>
        </p:spPr>
      </p:pic>
      <p:sp>
        <p:nvSpPr>
          <p:cNvPr id="6" name="TextBox 1"/>
          <p:cNvSpPr txBox="1"/>
          <p:nvPr/>
        </p:nvSpPr>
        <p:spPr>
          <a:xfrm>
            <a:off x="1866900" y="923925"/>
            <a:ext cx="21297900" cy="24003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5400" b="0" i="0">
                <a:solidFill>
                  <a:srgbClr val="1B2A44"/>
                </a:solidFill>
              </a:rPr>
              <a:t>Solution #3: Client-side perceived quality</a:t>
            </a:r>
          </a:p>
          <a:p>
            <a:pPr algn="l"/>
            <a:r>
              <a:rPr sz="5400" b="0" i="0">
                <a:solidFill>
                  <a:srgbClr val="1B2A44"/>
                </a:solidFill>
              </a:rPr>
              <a:t>look up</a:t>
            </a:r>
          </a:p>
        </p:txBody>
      </p:sp>
      <p:sp>
        <p:nvSpPr>
          <p:cNvPr id="7" name="Rectangle 6"/>
          <p:cNvSpPr/>
          <p:nvPr/>
        </p:nvSpPr>
        <p:spPr>
          <a:xfrm>
            <a:off x="1323975" y="4457700"/>
            <a:ext cx="21207412" cy="5324475"/>
          </a:xfrm>
          <a:prstGeom prst="rect">
            <a:avLst/>
          </a:prstGeom>
          <a:solidFill>
            <a:srgbClr val="1B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merged_0001_architecture_diagram_gp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1307" y="4457700"/>
            <a:ext cx="11732748" cy="53244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os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93525" cy="13716000"/>
          </a:xfrm>
          <a:prstGeom prst="rect">
            <a:avLst/>
          </a:prstGeom>
        </p:spPr>
      </p:pic>
      <p:sp>
        <p:nvSpPr>
          <p:cNvPr id="3" name="TextBox 1"/>
          <p:cNvSpPr txBox="1"/>
          <p:nvPr/>
        </p:nvSpPr>
        <p:spPr>
          <a:xfrm>
            <a:off x="22221825" y="12944475"/>
            <a:ext cx="32385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200" b="0" i="0">
                <a:solidFill>
                  <a:srgbClr val="1B2A44"/>
                </a:solidFill>
              </a:rPr>
              <a:t>26</a:t>
            </a:r>
          </a:p>
        </p:txBody>
      </p:sp>
      <p:sp>
        <p:nvSpPr>
          <p:cNvPr id="4" name="TextBox 1"/>
          <p:cNvSpPr txBox="1"/>
          <p:nvPr/>
        </p:nvSpPr>
        <p:spPr>
          <a:xfrm>
            <a:off x="1885950" y="1524000"/>
            <a:ext cx="5667375" cy="914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5400" b="0" i="0">
                <a:solidFill>
                  <a:srgbClr val="1B2A44"/>
                </a:solidFill>
              </a:rPr>
              <a:t>Conclusion</a:t>
            </a:r>
          </a:p>
        </p:txBody>
      </p:sp>
      <p:sp>
        <p:nvSpPr>
          <p:cNvPr id="5" name="TextBox 1"/>
          <p:cNvSpPr txBox="1"/>
          <p:nvPr/>
        </p:nvSpPr>
        <p:spPr>
          <a:xfrm>
            <a:off x="1857375" y="3314700"/>
            <a:ext cx="21612225" cy="88963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880" b="0" i="0">
                <a:solidFill>
                  <a:srgbClr val="1B2A44"/>
                </a:solidFill>
              </a:rPr>
              <a:t>• Existing works assume users pay equally high attention to all pixels in the viewport ⇒ Huge bandwidth consumption</a:t>
            </a:r>
          </a:p>
          <a:p>
            <a:pPr algn="l"/>
            <a:r>
              <a:rPr sz="2880" b="0" i="0">
                <a:solidFill>
                  <a:srgbClr val="1B2A44"/>
                </a:solidFill>
              </a:rPr>
              <a:t>• Key observation: Users have limited span of attention</a:t>
            </a:r>
          </a:p>
          <a:p>
            <a:pPr algn="l"/>
            <a:r>
              <a:rPr sz="2880" b="0" i="0">
                <a:solidFill>
                  <a:srgbClr val="1B2A44"/>
                </a:solidFill>
              </a:rPr>
              <a:t>• Our approach: Optimizing users perceived quality considering users' attention</a:t>
            </a:r>
          </a:p>
          <a:p>
            <a:pPr algn="l"/>
            <a:r>
              <a:rPr sz="2880" b="0" i="0">
                <a:solidFill>
                  <a:srgbClr val="1B2A44"/>
                </a:solidFill>
              </a:rPr>
              <a:t>• Results: Substantially higher users perceived quality under the same bandwidth consumption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